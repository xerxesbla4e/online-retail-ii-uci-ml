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57" r:id="rId4"/>
    <p:sldId id="258" r:id="rId5"/>
    <p:sldId id="264" r:id="rId6"/>
    <p:sldId id="263" r:id="rId7"/>
    <p:sldId id="259" r:id="rId8"/>
    <p:sldId id="260" r:id="rId9"/>
    <p:sldId id="261" r:id="rId10"/>
    <p:sldId id="262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8EC5-9467-4090-86AD-9169B095DAF2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33CB1-0431-4A8D-AB79-B558D68B3EB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284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8EC5-9467-4090-86AD-9169B095DAF2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33CB1-0431-4A8D-AB79-B558D68B3EB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798005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8EC5-9467-4090-86AD-9169B095DAF2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33CB1-0431-4A8D-AB79-B558D68B3EB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60437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8EC5-9467-4090-86AD-9169B095DAF2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33CB1-0431-4A8D-AB79-B558D68B3EB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391848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8EC5-9467-4090-86AD-9169B095DAF2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33CB1-0431-4A8D-AB79-B558D68B3EB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37696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8EC5-9467-4090-86AD-9169B095DAF2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33CB1-0431-4A8D-AB79-B558D68B3EB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209294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8EC5-9467-4090-86AD-9169B095DAF2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33CB1-0431-4A8D-AB79-B558D68B3EB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964417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8EC5-9467-4090-86AD-9169B095DAF2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33CB1-0431-4A8D-AB79-B558D68B3EB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294078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8EC5-9467-4090-86AD-9169B095DAF2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33CB1-0431-4A8D-AB79-B558D68B3EB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03400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8EC5-9467-4090-86AD-9169B095DAF2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33CB1-0431-4A8D-AB79-B558D68B3EB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725301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8EC5-9467-4090-86AD-9169B095DAF2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33CB1-0431-4A8D-AB79-B558D68B3EB4}" type="slidenum">
              <a:rPr lang="en-UG" smtClean="0"/>
              <a:t>‹#›</a:t>
            </a:fld>
            <a:endParaRPr lang="en-UG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0200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8EC5-9467-4090-86AD-9169B095DAF2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33CB1-0431-4A8D-AB79-B558D68B3EB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945818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8EC5-9467-4090-86AD-9169B095DAF2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33CB1-0431-4A8D-AB79-B558D68B3EB4}" type="slidenum">
              <a:rPr lang="en-UG" smtClean="0"/>
              <a:t>‹#›</a:t>
            </a:fld>
            <a:endParaRPr lang="en-U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5875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8EC5-9467-4090-86AD-9169B095DAF2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33CB1-0431-4A8D-AB79-B558D68B3EB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14325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8EC5-9467-4090-86AD-9169B095DAF2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33CB1-0431-4A8D-AB79-B558D68B3EB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34335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8EC5-9467-4090-86AD-9169B095DAF2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33CB1-0431-4A8D-AB79-B558D68B3EB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751026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88EC5-9467-4090-86AD-9169B095DAF2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0C33CB1-0431-4A8D-AB79-B558D68B3EB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969728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AEC42-03A0-ED85-56C0-8D63241C08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  </a:t>
            </a:r>
            <a:endParaRPr lang="en-U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A169C0-8EC3-53AD-FAD3-4BF05D079E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  .   </a:t>
            </a:r>
            <a:endParaRPr lang="en-U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CBDB40-C410-D23D-DF54-EBA8A03A3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108795"/>
              </p:ext>
            </p:extLst>
          </p:nvPr>
        </p:nvGraphicFramePr>
        <p:xfrm>
          <a:off x="838200" y="1600200"/>
          <a:ext cx="10774680" cy="2966183"/>
        </p:xfrm>
        <a:graphic>
          <a:graphicData uri="http://schemas.openxmlformats.org/drawingml/2006/table">
            <a:tbl>
              <a:tblPr/>
              <a:tblGrid>
                <a:gridCol w="5387340">
                  <a:extLst>
                    <a:ext uri="{9D8B030D-6E8A-4147-A177-3AD203B41FA5}">
                      <a16:colId xmlns:a16="http://schemas.microsoft.com/office/drawing/2014/main" val="2799233253"/>
                    </a:ext>
                  </a:extLst>
                </a:gridCol>
                <a:gridCol w="5387340">
                  <a:extLst>
                    <a:ext uri="{9D8B030D-6E8A-4147-A177-3AD203B41FA5}">
                      <a16:colId xmlns:a16="http://schemas.microsoft.com/office/drawing/2014/main" val="1197087665"/>
                    </a:ext>
                  </a:extLst>
                </a:gridCol>
              </a:tblGrid>
              <a:tr h="104957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Title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Customer Segmentation &amp; Market Basket Analysis for Online Retail II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47231"/>
                  </a:ext>
                </a:extLst>
              </a:tr>
              <a:tr h="6388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Course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Intelligent Systems (MIS 6317)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000172"/>
                  </a:ext>
                </a:extLst>
              </a:tr>
              <a:tr h="6388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Student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MUGASHA BLAISE BRADLEY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624958"/>
                  </a:ext>
                </a:extLst>
              </a:tr>
              <a:tr h="6388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Reg. No.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2024-M132-23976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858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519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2308-F5AE-2E4B-5ED6-06271383D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</a:t>
            </a:r>
            <a:endParaRPr lang="en-U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F29AB3-5F55-37D3-05DF-8D3D6694BC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166360" y="1788506"/>
            <a:ext cx="5977889" cy="3880773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FA42FC-B38F-5611-3CFF-6C1150C32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2160589"/>
            <a:ext cx="448902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About Dataset</a:t>
            </a:r>
          </a:p>
          <a:p>
            <a:pPr marL="0" indent="0">
              <a:buNone/>
            </a:pPr>
            <a:r>
              <a:rPr lang="en-GB" dirty="0"/>
              <a:t>Context</a:t>
            </a:r>
          </a:p>
          <a:p>
            <a:pPr marL="0" indent="0">
              <a:buNone/>
            </a:pPr>
            <a:r>
              <a:rPr lang="en-GB" dirty="0"/>
              <a:t>This Online Retail II data set contains all the transactions occurring for a UK-based and registered, non-store online retail between 01/12/2009 and 09/12/2011.The company mainly sells unique all-occasion gift-ware. </a:t>
            </a:r>
          </a:p>
          <a:p>
            <a:pPr marL="0" indent="0">
              <a:buNone/>
            </a:pPr>
            <a:r>
              <a:rPr lang="en-GB" dirty="0"/>
              <a:t>Many customers of the company are wholesalers.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00910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0F47-79C8-0EA7-E79E-57B1A85FC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Overview &amp; Data Preparation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C1A9F-9623-2E5A-C121-76C3E95D7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594541"/>
          </a:xfrm>
        </p:spPr>
        <p:txBody>
          <a:bodyPr/>
          <a:lstStyle/>
          <a:p>
            <a:pPr>
              <a:buNone/>
            </a:pPr>
            <a:r>
              <a:rPr lang="en-GB" b="1" dirty="0"/>
              <a:t>Objective</a:t>
            </a:r>
          </a:p>
          <a:p>
            <a:pPr>
              <a:buNone/>
            </a:pPr>
            <a:r>
              <a:rPr lang="en-GB" dirty="0"/>
              <a:t>To apply clustering (k-Means, Deep Embedding) and association rule mining (FP-Growth) to identify key customer segments and product relationships.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/>
              <a:t>Data Cleaning &amp; Feature Engineering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endParaRPr lang="en-GB" dirty="0"/>
          </a:p>
          <a:p>
            <a:pPr>
              <a:buNone/>
            </a:pPr>
            <a:endParaRPr lang="en-GB" dirty="0"/>
          </a:p>
          <a:p>
            <a:pPr marL="0" indent="0">
              <a:buNone/>
            </a:pPr>
            <a:endParaRPr lang="en-U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2C8A7F-49C6-D99D-6185-5D205C4B4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93" y="4100974"/>
            <a:ext cx="7907137" cy="265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120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3D4F0-7E65-22FC-5467-22D6E07F5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Customer Clustering Results (Part A &amp; B)</a:t>
            </a:r>
            <a:endParaRPr lang="en-U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F0154-AEE9-D0D9-9907-F378006A3A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Clustering Methods</a:t>
            </a:r>
          </a:p>
          <a:p>
            <a:pPr marL="0" indent="0">
              <a:buNone/>
            </a:pPr>
            <a:r>
              <a:rPr lang="en-GB" dirty="0"/>
              <a:t>Standard k-Means: Applied to standardized features, reduced by PCA.</a:t>
            </a:r>
          </a:p>
          <a:p>
            <a:pPr marL="0" indent="0">
              <a:buNone/>
            </a:pPr>
            <a:r>
              <a:rPr lang="en-GB" dirty="0"/>
              <a:t>Deep Embedding k-Means: Applied to 3D latent features extracted from a trained Autoencoder.</a:t>
            </a:r>
            <a:endParaRPr lang="en-U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D7714A-171F-649E-A5F8-34AA93CE3E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Key Finding: Cluster Quality</a:t>
            </a:r>
          </a:p>
          <a:p>
            <a:pPr marL="0" indent="0">
              <a:buNone/>
            </a:pPr>
            <a:r>
              <a:rPr lang="en-GB" dirty="0"/>
              <a:t>k-Means (on PCA): Silhouette Score = 0.9640.</a:t>
            </a:r>
          </a:p>
          <a:p>
            <a:pPr marL="0" indent="0">
              <a:buNone/>
            </a:pPr>
            <a:r>
              <a:rPr lang="en-GB" dirty="0"/>
              <a:t>k-Means (on Autoencoder Embeddings): Silhouette Score = 0.9679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Conclusion: The scores are very similar. The simple non-linear Autoencoder did not capture significantly more variance than the linear PCA, suggesting the core features have a close to linear relationship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539302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8DC49-B096-4ED3-0173-0834EEC62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Autoencoder Embeddings Clustered with k-Means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9AD51B7-10CB-E2B0-945B-829ADB90296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1460" y="1840230"/>
            <a:ext cx="4838510" cy="440817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33E1D-AFF1-CEAD-D82A-59188F5B4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1840231"/>
            <a:ext cx="4609464" cy="418338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The t-SNE visualization of the autoencoder embeddings shows that the latent space forms one dominant structure with minimal sub-cluster separation. Most customers fall into a single dense region, while the remaining two clusters contain only a small number of points. This indicates that the autoencoder did not reveal additional nonlinear patterns beyond the original features.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331403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DC7FDC-5EBF-E78B-67DB-7F9CF68B6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Visualization </a:t>
            </a:r>
            <a:endParaRPr lang="en-UG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3ABFCEE-5329-CC74-A8D5-0AE33BC377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1440" y="2160589"/>
            <a:ext cx="4998084" cy="4396419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5130ACC-1775-71F6-3B36-8A702FCC7B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89524" y="2160589"/>
            <a:ext cx="5403216" cy="439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815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9196-8093-BF36-9B61-652FBEDCE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Customer Segmentation</a:t>
            </a:r>
            <a:endParaRPr lang="en-UG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035E65B-E328-8EE7-9DF3-9CE0EC52B5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5031658"/>
              </p:ext>
            </p:extLst>
          </p:nvPr>
        </p:nvGraphicFramePr>
        <p:xfrm>
          <a:off x="677862" y="1930400"/>
          <a:ext cx="8957627" cy="3773171"/>
        </p:xfrm>
        <a:graphic>
          <a:graphicData uri="http://schemas.openxmlformats.org/drawingml/2006/table">
            <a:tbl>
              <a:tblPr/>
              <a:tblGrid>
                <a:gridCol w="905726">
                  <a:extLst>
                    <a:ext uri="{9D8B030D-6E8A-4147-A177-3AD203B41FA5}">
                      <a16:colId xmlns:a16="http://schemas.microsoft.com/office/drawing/2014/main" val="1866082315"/>
                    </a:ext>
                  </a:extLst>
                </a:gridCol>
                <a:gridCol w="2717177">
                  <a:extLst>
                    <a:ext uri="{9D8B030D-6E8A-4147-A177-3AD203B41FA5}">
                      <a16:colId xmlns:a16="http://schemas.microsoft.com/office/drawing/2014/main" val="1185286891"/>
                    </a:ext>
                  </a:extLst>
                </a:gridCol>
                <a:gridCol w="2617547">
                  <a:extLst>
                    <a:ext uri="{9D8B030D-6E8A-4147-A177-3AD203B41FA5}">
                      <a16:colId xmlns:a16="http://schemas.microsoft.com/office/drawing/2014/main" val="644409040"/>
                    </a:ext>
                  </a:extLst>
                </a:gridCol>
                <a:gridCol w="2717177">
                  <a:extLst>
                    <a:ext uri="{9D8B030D-6E8A-4147-A177-3AD203B41FA5}">
                      <a16:colId xmlns:a16="http://schemas.microsoft.com/office/drawing/2014/main" val="575840014"/>
                    </a:ext>
                  </a:extLst>
                </a:gridCol>
              </a:tblGrid>
              <a:tr h="40710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6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Cluster</a:t>
                      </a:r>
                    </a:p>
                  </a:txBody>
                  <a:tcPr marL="69535" marR="69535" marT="17384" marB="17384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6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Characteristics</a:t>
                      </a:r>
                    </a:p>
                  </a:txBody>
                  <a:tcPr marL="69535" marR="69535" marT="17384" marB="1738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6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Customer Type</a:t>
                      </a:r>
                    </a:p>
                  </a:txBody>
                  <a:tcPr marL="69535" marR="69535" marT="17384" marB="1738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6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Actionable Insight</a:t>
                      </a:r>
                    </a:p>
                  </a:txBody>
                  <a:tcPr marL="69535" marR="69535" marT="17384" marB="1738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777143"/>
                  </a:ext>
                </a:extLst>
              </a:tr>
              <a:tr h="112202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6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Cluster 1</a:t>
                      </a:r>
                    </a:p>
                  </a:txBody>
                  <a:tcPr marL="69535" marR="69535" marT="17384" marB="17384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6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High TotalSpending, High TransactionCount, Large AvgBasketSize </a:t>
                      </a:r>
                    </a:p>
                  </a:txBody>
                  <a:tcPr marL="69535" marR="69535" marT="17384" marB="1738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6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Premium/Wholesale-style buyers (High-Value)</a:t>
                      </a:r>
                    </a:p>
                  </a:txBody>
                  <a:tcPr marL="69535" marR="69535" marT="17384" marB="1738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6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Focus on Retention and Loyalty Programs.</a:t>
                      </a:r>
                    </a:p>
                  </a:txBody>
                  <a:tcPr marL="69535" marR="69535" marT="17384" marB="1738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814039"/>
                  </a:ext>
                </a:extLst>
              </a:tr>
              <a:tr h="112202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6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Cluster 2</a:t>
                      </a:r>
                    </a:p>
                  </a:txBody>
                  <a:tcPr marL="69535" marR="69535" marT="17384" marB="17384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6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Moderate spending, Moderate frequency and size </a:t>
                      </a:r>
                    </a:p>
                  </a:txBody>
                  <a:tcPr marL="69535" marR="69535" marT="17384" marB="1738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6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Typical Shoppers</a:t>
                      </a:r>
                    </a:p>
                  </a:txBody>
                  <a:tcPr marL="69535" marR="69535" marT="17384" marB="1738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6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Target with promotions to increase frequency/size.</a:t>
                      </a:r>
                    </a:p>
                  </a:txBody>
                  <a:tcPr marL="69535" marR="69535" marT="17384" marB="1738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590169"/>
                  </a:ext>
                </a:extLst>
              </a:tr>
              <a:tr h="112202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6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Cluster 3</a:t>
                      </a:r>
                    </a:p>
                  </a:txBody>
                  <a:tcPr marL="69535" marR="69535" marT="17384" marB="17384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6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Low spending, Few transactions, Small baskets </a:t>
                      </a:r>
                    </a:p>
                  </a:txBody>
                  <a:tcPr marL="69535" marR="69535" marT="17384" marB="1738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6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One-off buyers / Bargain Hunters (Low-Value)</a:t>
                      </a:r>
                    </a:p>
                  </a:txBody>
                  <a:tcPr marL="69535" marR="69535" marT="17384" marB="1738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6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Target with introductory offers to promote conversion to Cluster 2.</a:t>
                      </a:r>
                    </a:p>
                  </a:txBody>
                  <a:tcPr marL="69535" marR="69535" marT="17384" marB="1738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676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869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F769C-7EAD-4A04-22CB-9BB99BE0C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Association Rule Mining (Part C)</a:t>
            </a:r>
            <a:endParaRPr lang="en-U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D350D5-C854-4AE9-D142-357CB81BB8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Method: FP-Growth</a:t>
            </a:r>
          </a:p>
          <a:p>
            <a:pPr marL="0" indent="0">
              <a:buNone/>
            </a:pPr>
            <a:r>
              <a:rPr lang="en-GB" dirty="0"/>
              <a:t>Rationale for FP-Growth: Used instead of Apriori because it avoids generating candidate itemsets, successfully handling the large search space of 5,368 unique items and preventing high memory consumption.</a:t>
            </a:r>
          </a:p>
          <a:p>
            <a:pPr marL="0" indent="0">
              <a:buNone/>
            </a:pPr>
            <a:r>
              <a:rPr lang="en-GB" dirty="0"/>
              <a:t>Parameters: min_support = 0.01; min_threshold (confidence) = 0.5.</a:t>
            </a:r>
            <a:endParaRPr lang="en-U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CB8342-F791-56C9-A2B7-EE5746604D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Key Finding: POPPY'S PLAYHOUSE</a:t>
            </a:r>
          </a:p>
          <a:p>
            <a:pPr marL="0" indent="0">
              <a:buNone/>
            </a:pPr>
            <a:r>
              <a:rPr lang="en-GB" dirty="0"/>
              <a:t>The strongest rules are dominated by the "POPPY'S PLAYHOUSE" collection, revealing highly complementary product lines</a:t>
            </a:r>
          </a:p>
          <a:p>
            <a:pPr marL="0" indent="0">
              <a:buNone/>
            </a:pP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602951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8D9A3-9404-F63B-C8D9-E3AC1396B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Interpretation of Top Association Rules</a:t>
            </a:r>
            <a:endParaRPr lang="en-UG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3559926-D940-72E9-109C-8AA34BB752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91258"/>
              </p:ext>
            </p:extLst>
          </p:nvPr>
        </p:nvGraphicFramePr>
        <p:xfrm>
          <a:off x="777240" y="1909602"/>
          <a:ext cx="9395460" cy="4514058"/>
        </p:xfrm>
        <a:graphic>
          <a:graphicData uri="http://schemas.openxmlformats.org/drawingml/2006/table">
            <a:tbl>
              <a:tblPr/>
              <a:tblGrid>
                <a:gridCol w="1010266">
                  <a:extLst>
                    <a:ext uri="{9D8B030D-6E8A-4147-A177-3AD203B41FA5}">
                      <a16:colId xmlns:a16="http://schemas.microsoft.com/office/drawing/2014/main" val="3459053949"/>
                    </a:ext>
                  </a:extLst>
                </a:gridCol>
                <a:gridCol w="2970176">
                  <a:extLst>
                    <a:ext uri="{9D8B030D-6E8A-4147-A177-3AD203B41FA5}">
                      <a16:colId xmlns:a16="http://schemas.microsoft.com/office/drawing/2014/main" val="780834457"/>
                    </a:ext>
                  </a:extLst>
                </a:gridCol>
                <a:gridCol w="1373959">
                  <a:extLst>
                    <a:ext uri="{9D8B030D-6E8A-4147-A177-3AD203B41FA5}">
                      <a16:colId xmlns:a16="http://schemas.microsoft.com/office/drawing/2014/main" val="423565220"/>
                    </a:ext>
                  </a:extLst>
                </a:gridCol>
                <a:gridCol w="1010266">
                  <a:extLst>
                    <a:ext uri="{9D8B030D-6E8A-4147-A177-3AD203B41FA5}">
                      <a16:colId xmlns:a16="http://schemas.microsoft.com/office/drawing/2014/main" val="1315116957"/>
                    </a:ext>
                  </a:extLst>
                </a:gridCol>
                <a:gridCol w="3030793">
                  <a:extLst>
                    <a:ext uri="{9D8B030D-6E8A-4147-A177-3AD203B41FA5}">
                      <a16:colId xmlns:a16="http://schemas.microsoft.com/office/drawing/2014/main" val="3038129277"/>
                    </a:ext>
                  </a:extLst>
                </a:gridCol>
              </a:tblGrid>
              <a:tr h="52033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4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Rank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4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Rule (IF → THEN)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4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Confidence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4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Lift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4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Business Action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128386"/>
                  </a:ext>
                </a:extLst>
              </a:tr>
              <a:tr h="1250151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G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{Bedroom, Kitchen, Bathroom} → {Livingroom} 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G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73.43%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G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52.45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Use for "You Might Be Missing..." recommendations at checkout to complete the set.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814647"/>
                  </a:ext>
                </a:extLst>
              </a:tr>
              <a:tr h="1493423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G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{Livingroom, Kitchen, Bathroom} → {Bedroom} 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G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86.29%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G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49.45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Use as a leading indicator. Send personalized emails promoting the Bedroom item immediately after the purchase of the other three.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541608"/>
                  </a:ext>
                </a:extLst>
              </a:tr>
              <a:tr h="1250151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G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7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{Kitchen, Bedroom} → {Livingroom} 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G" sz="14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81.74%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G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46.84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4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High confidence for a two-item antecedent. Ideal for immediate in-cart cross-selling to reliably increase basket value.</a:t>
                      </a:r>
                    </a:p>
                  </a:txBody>
                  <a:tcPr marL="58105" marR="58105" marT="14526" marB="145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054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163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E130-C436-1BBF-45B2-55CC6E122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Actionable Business Recommendations</a:t>
            </a:r>
            <a:endParaRPr lang="en-U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A7DE3-5591-D11A-D329-3F2EEED648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Retention Strategy for High-Value Customers (Cluster 1)</a:t>
            </a:r>
          </a:p>
          <a:p>
            <a:pPr marL="0" indent="0">
              <a:buNone/>
            </a:pPr>
            <a:r>
              <a:rPr lang="en-GB" dirty="0"/>
              <a:t>Action: Implement exclusive, tiered loyalty programs.</a:t>
            </a:r>
          </a:p>
          <a:p>
            <a:pPr marL="0" indent="0">
              <a:buNone/>
            </a:pPr>
            <a:r>
              <a:rPr lang="en-GB" dirty="0"/>
              <a:t>Goal: Increase retention rate and Share of Wallet by rewarding their high-volume behaviour</a:t>
            </a:r>
            <a:endParaRPr lang="en-U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71AA23-1A02-D695-557A-64747911E5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Optimize Cross-Selling (POPPY'S PLAYHOUSE) </a:t>
            </a:r>
          </a:p>
          <a:p>
            <a:pPr marL="0" indent="0">
              <a:buNone/>
            </a:pPr>
            <a:r>
              <a:rPr lang="en-GB" dirty="0"/>
              <a:t>Action: Power a "Customers Who Bought This Also Bought " engine with rules having a high Lift score (e.g., &gt; 15)</a:t>
            </a:r>
          </a:p>
          <a:p>
            <a:pPr marL="0" indent="0">
              <a:buNone/>
            </a:pPr>
            <a:r>
              <a:rPr lang="en-GB" dirty="0"/>
              <a:t>In-Store: Strategically place strongly associated items (e.g., Bedroom and Kitchen) near each other to encourage impulse buying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360142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E8CC06-C20A-3387-50E1-650888356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Actionable Business Recommendations Cont’d</a:t>
            </a:r>
            <a:endParaRPr lang="en-U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3BEB6-B413-E942-0233-B2C82E073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Convert Occasional Buyers (Cluster 3)</a:t>
            </a:r>
          </a:p>
          <a:p>
            <a:pPr marL="0" indent="0">
              <a:buNone/>
            </a:pPr>
            <a:r>
              <a:rPr lang="en-GB" dirty="0"/>
              <a:t>Action: Develop targeted "Welcome Back" campaigns with small, attractive discount incentives.</a:t>
            </a:r>
          </a:p>
          <a:p>
            <a:pPr marL="0" indent="0">
              <a:buNone/>
            </a:pPr>
            <a:r>
              <a:rPr lang="en-GB" dirty="0"/>
              <a:t>Goal: Shift these low-value customers towards the Medium-Value, Regular Buyers (Cluster 2) profile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2369527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88</TotalTime>
  <Words>686</Words>
  <Application>Microsoft Office PowerPoint</Application>
  <PresentationFormat>Widescreen</PresentationFormat>
  <Paragraphs>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Google Sans Text</vt:lpstr>
      <vt:lpstr>Roboto</vt:lpstr>
      <vt:lpstr>Trebuchet MS</vt:lpstr>
      <vt:lpstr>Wingdings 3</vt:lpstr>
      <vt:lpstr>Facet</vt:lpstr>
      <vt:lpstr>   </vt:lpstr>
      <vt:lpstr>Dataset</vt:lpstr>
      <vt:lpstr>Project Overview &amp; Data Preparation</vt:lpstr>
      <vt:lpstr>Customer Clustering Results (Part A &amp; B)</vt:lpstr>
      <vt:lpstr>Autoencoder Embeddings Clustered with k-Means</vt:lpstr>
      <vt:lpstr>Cluster Visualization </vt:lpstr>
      <vt:lpstr>Customer Segmentation</vt:lpstr>
      <vt:lpstr>Association Rule Mining (Part C)</vt:lpstr>
      <vt:lpstr>Interpretation of Top Association Rules</vt:lpstr>
      <vt:lpstr>Actionable Business Recommendations</vt:lpstr>
      <vt:lpstr>Actionable Business Recommendations Cont’d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King Xerxes</dc:creator>
  <cp:lastModifiedBy>King Xerxes</cp:lastModifiedBy>
  <cp:revision>14</cp:revision>
  <dcterms:created xsi:type="dcterms:W3CDTF">2025-12-10T13:14:14Z</dcterms:created>
  <dcterms:modified xsi:type="dcterms:W3CDTF">2025-12-10T14:43:02Z</dcterms:modified>
</cp:coreProperties>
</file>